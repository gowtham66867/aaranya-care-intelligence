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eedf9fccf2452f" /><Relationship Type="http://schemas.openxmlformats.org/officeDocument/2006/relationships/extended-properties" Target="/docProps/app.xml" Id="R3ded4e8ed88249c0" /><Relationship Type="http://schemas.openxmlformats.org/officeDocument/2006/relationships/officeDocument" Target="/ppt/presentation.xml" Id="Rba3db1e3416844d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b296cc9145f4cee"/>
  </p:sldMasterIdLst>
  <p:notesMasterIdLst>
    <p:notesMasterId xmlns:r="http://schemas.openxmlformats.org/officeDocument/2006/relationships" r:id="R1b064a767a894e54"/>
  </p:notesMasterIdLst>
  <p:sldIdLst>
    <p:sldId xmlns:r="http://schemas.openxmlformats.org/officeDocument/2006/relationships" id="256" r:id="R2c3740ab19f94b0c"/>
    <p:sldId xmlns:r="http://schemas.openxmlformats.org/officeDocument/2006/relationships" id="257" r:id="R24525bcaa3f9460a"/>
    <p:sldId xmlns:r="http://schemas.openxmlformats.org/officeDocument/2006/relationships" id="258" r:id="R1c0797debb884601"/>
    <p:sldId xmlns:r="http://schemas.openxmlformats.org/officeDocument/2006/relationships" id="259" r:id="Rfd8a586012944705"/>
    <p:sldId xmlns:r="http://schemas.openxmlformats.org/officeDocument/2006/relationships" id="260" r:id="R29340778e70f4ebd"/>
    <p:sldId xmlns:r="http://schemas.openxmlformats.org/officeDocument/2006/relationships" id="261" r:id="Rdcffcc0a7a544ee7"/>
    <p:sldId xmlns:r="http://schemas.openxmlformats.org/officeDocument/2006/relationships" id="262" r:id="Ra8ab5a92c7e3416a"/>
    <p:sldId xmlns:r="http://schemas.openxmlformats.org/officeDocument/2006/relationships" id="263" r:id="R063d302f2cbe474d"/>
    <p:sldId xmlns:r="http://schemas.openxmlformats.org/officeDocument/2006/relationships" id="264" r:id="R4ce159b7413447d3"/>
    <p:sldId xmlns:r="http://schemas.openxmlformats.org/officeDocument/2006/relationships" id="265" r:id="R2f94393e6373476f"/>
    <p:sldId xmlns:r="http://schemas.openxmlformats.org/officeDocument/2006/relationships" id="266" r:id="Re0898d1657634575"/>
  </p:sldIdLst>
  <p:sldSz cx="9144000" cy="5143500"/>
  <p:notesSz cx="6858000" cy="9144000"/>
  <p:embeddedFontLst>
    <p:embeddedFont>
      <p:font typeface="Manrope"/>
      <p:regular xmlns:r="http://schemas.openxmlformats.org/officeDocument/2006/relationships" r:id="R37826ac6885e4572"/>
      <p:bold xmlns:r="http://schemas.openxmlformats.org/officeDocument/2006/relationships" r:id="R5701a82cd31a4c0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3785a6057d4dd2" /><Relationship Type="http://schemas.openxmlformats.org/officeDocument/2006/relationships/slideMaster" Target="/ppt/slideMasters/slideMaster1.xml" Id="R7b296cc9145f4cee" /><Relationship Type="http://schemas.openxmlformats.org/officeDocument/2006/relationships/notesMaster" Target="/ppt/notesMasters/notesMaster1.xml" Id="R1b064a767a894e54" /><Relationship Type="http://schemas.openxmlformats.org/officeDocument/2006/relationships/presProps" Target="/ppt/presProps.xml" Id="R7612006da395449a" /><Relationship Type="http://schemas.openxmlformats.org/officeDocument/2006/relationships/viewProps" Target="/ppt/viewProps.xml" Id="R8a1859acecb34869" /><Relationship Type="http://schemas.openxmlformats.org/officeDocument/2006/relationships/tableStyles" Target="/ppt/tableStyles.xml" Id="R341471e6438846ed" /><Relationship Type="http://schemas.openxmlformats.org/officeDocument/2006/relationships/font" Target="/ppt/fonts/font.dat" Id="R37826ac6885e4572" /><Relationship Type="http://schemas.openxmlformats.org/officeDocument/2006/relationships/font" Target="/ppt/fonts/font2.dat" Id="R5701a82cd31a4c05" /><Relationship Type="http://schemas.openxmlformats.org/officeDocument/2006/relationships/slide" Target="/ppt/slides/slide1.xml" Id="R2c3740ab19f94b0c" /><Relationship Type="http://schemas.openxmlformats.org/officeDocument/2006/relationships/slide" Target="/ppt/slides/slide2.xml" Id="R24525bcaa3f9460a" /><Relationship Type="http://schemas.openxmlformats.org/officeDocument/2006/relationships/slide" Target="/ppt/slides/slide3.xml" Id="R1c0797debb884601" /><Relationship Type="http://schemas.openxmlformats.org/officeDocument/2006/relationships/slide" Target="/ppt/slides/slide4.xml" Id="Rfd8a586012944705" /><Relationship Type="http://schemas.openxmlformats.org/officeDocument/2006/relationships/slide" Target="/ppt/slides/slide5.xml" Id="R29340778e70f4ebd" /><Relationship Type="http://schemas.openxmlformats.org/officeDocument/2006/relationships/slide" Target="/ppt/slides/slide6.xml" Id="Rdcffcc0a7a544ee7" /><Relationship Type="http://schemas.openxmlformats.org/officeDocument/2006/relationships/slide" Target="/ppt/slides/slide7.xml" Id="Ra8ab5a92c7e3416a" /><Relationship Type="http://schemas.openxmlformats.org/officeDocument/2006/relationships/slide" Target="/ppt/slides/slide8.xml" Id="R063d302f2cbe474d" /><Relationship Type="http://schemas.openxmlformats.org/officeDocument/2006/relationships/slide" Target="/ppt/slides/slide9.xml" Id="R4ce159b7413447d3" /><Relationship Type="http://schemas.openxmlformats.org/officeDocument/2006/relationships/slide" Target="/ppt/slides/slide10.xml" Id="R2f94393e6373476f" /><Relationship Type="http://schemas.openxmlformats.org/officeDocument/2006/relationships/slide" Target="/ppt/slides/slide11.xml" Id="Re0898d16576345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f859db930044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fb57686a3b45d3" /><Relationship Type="http://schemas.openxmlformats.org/officeDocument/2006/relationships/notesMaster" Target="/ppt/notesMasters/notesMaster1.xml" Id="R2bc0cd9e7f7449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0b5688b76647bf" /><Relationship Type="http://schemas.openxmlformats.org/officeDocument/2006/relationships/notesMaster" Target="/ppt/notesMasters/notesMaster1.xml" Id="Rd83b0ef060444f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f1fdd1970543d0" /><Relationship Type="http://schemas.openxmlformats.org/officeDocument/2006/relationships/notesMaster" Target="/ppt/notesMasters/notesMaster1.xml" Id="R64a0db183d8a40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e61c3139b04b5e" /><Relationship Type="http://schemas.openxmlformats.org/officeDocument/2006/relationships/notesMaster" Target="/ppt/notesMasters/notesMaster1.xml" Id="R8dac612cd2e144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3cdc9c7d224606" /><Relationship Type="http://schemas.openxmlformats.org/officeDocument/2006/relationships/notesMaster" Target="/ppt/notesMasters/notesMaster1.xml" Id="Rf3f34959fac845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23c9f54c444f3c" /><Relationship Type="http://schemas.openxmlformats.org/officeDocument/2006/relationships/notesMaster" Target="/ppt/notesMasters/notesMaster1.xml" Id="R7d981cb33c664d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4dab2572ed40d3" /><Relationship Type="http://schemas.openxmlformats.org/officeDocument/2006/relationships/notesMaster" Target="/ppt/notesMasters/notesMaster1.xml" Id="R1b1fed3b6f1945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4cbe1d3b7047b2" /><Relationship Type="http://schemas.openxmlformats.org/officeDocument/2006/relationships/notesMaster" Target="/ppt/notesMasters/notesMaster1.xml" Id="R5e3f13ad489148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164dbb3ee247bc" /><Relationship Type="http://schemas.openxmlformats.org/officeDocument/2006/relationships/notesMaster" Target="/ppt/notesMasters/notesMaster1.xml" Id="R38b45be6610947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91a980f37e4958" /><Relationship Type="http://schemas.openxmlformats.org/officeDocument/2006/relationships/notesMaster" Target="/ppt/notesMasters/notesMaster1.xml" Id="R3a9dd659d7244d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6c3cfd2b36494e" /><Relationship Type="http://schemas.openxmlformats.org/officeDocument/2006/relationships/notesMaster" Target="/ppt/notesMasters/notesMaster1.xml" Id="R84e1c70c118545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Test figures reproduce the current software repository results. They do not represent clinical or customer validation.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Prototype: https://aaranya-care-intelligence.trilogy-1207.chatgpt.site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The four customer jobs are hypotheses for structured interviews. No validated customer claims are made.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UNFPA India, India Ageing Report 2023: https://india.unfpa.org/en/publications/caring-our-elders-institutional-responses-india-ageing-report-2023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Customer segment, buyer and buying triggers remain hypotheses to validate.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Workflow reflects the implemented Aaranya prototype: https://aaranya-care-intelligence.trilogy-1207.chatgpt.site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Product image captured from the Aaranya prototype on 6 September 2026.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Test results reproduce the current repository. Clinical validation remains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Every figure is a proposed pilot success threshold. No pilot results or customer traction are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Pilot design, pricing and expansion path are hypotheses to validate through discovery and procurement conversations.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Differentiation reflects the implemented prototype and intended strategy. Competitive validation remains part of discovery.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Founder biography and program objectives supplied by the founder.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Live prototype: https://aaranya-care-intelligence.trilogy-1207.chatgpt.site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Pilot scope and deliverables are proposed terms for a design partnership.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Official BITSoM Vertex prototype-submission template closing bumper.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d549da9db4c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7b0fe3e1c43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b4a8badbb4b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bcf1d734448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8f61c310e44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711e10bbf42f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5410572574dc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6d6806a5041d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19c3489e64a2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5fcd45416438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4417ab33c46c0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6690E02C-386B-4464-9215-7D11DCDC0C6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206974E2-222F-4EEF-B25F-8F2164CF2B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F7A6A197-93FC-432C-8C00-EEDA535386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83391442-EAB0-471D-8252-1FE374C765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D9FC8AC7-FBAF-4E05-9AB7-52A5C2358B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A13D1A69-3B63-4933-98E5-0E4664731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476179BA-FC19-4F02-B948-A6B53D8DF8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1D041AA8-1CF3-4D6B-BE53-F190A7AB90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311F76B1-9162-45D5-B794-EA2FA553E2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7264CFD8-D518-4338-9AE0-B388EA230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5B31F70-0B4F-4645-ABDA-971C16E951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0744EDA3-B839-4B9A-AB27-5E179C6CA4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F748C0E3-B0F9-4A90-B3A0-73B3D33A94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A2AA3E82-1993-444B-9A9F-D9C380C8C5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B9D45FC3-DB89-46A8-B295-64D102DD77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EA21DFC9-D809-44BE-ABDA-1C6C31E380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0403CAA1-B694-465E-8B8E-68CF344F35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4D88CA4F-BABE-419E-AFEF-1BCC748B4D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6A9A8A8D-7515-4372-B2F4-386BEBE9CA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C734890-EC38-4225-8946-67424D98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595C7781-17DE-4F77-8C48-1ABA379BDC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426CEEB4-A6BA-4202-9F09-1724FF1EDB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F5500580-B4E9-437C-81F3-7FFB50E8ED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2ABCBACF-40C0-4192-9C38-F8B5A13313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21550B13-E799-441F-913B-3FE0B6FD9F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D5E0E211-08CF-461C-AE06-7C486F875E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D3F370EF-9D59-4728-8F9A-E26623CE527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C5634688-DE88-445F-95CA-4AE893F68D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394AC40C-B233-4948-8EF2-92E2A9C490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B9663BFA-50E5-40D6-BEA8-95AF57D821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9958e5c0784e8d" /><Relationship Type="http://schemas.openxmlformats.org/officeDocument/2006/relationships/slideLayout" Target="/ppt/slideLayouts/slideLayout1.xml" Id="Re3cea48702724cd2" /><Relationship Type="http://schemas.openxmlformats.org/officeDocument/2006/relationships/slideLayout" Target="/ppt/slideLayouts/slideLayout2.xml" Id="R135ccd1ce0f74832" /><Relationship Type="http://schemas.openxmlformats.org/officeDocument/2006/relationships/slideLayout" Target="/ppt/slideLayouts/slideLayout3.xml" Id="Reae8ad90c3864ec0" /><Relationship Type="http://schemas.openxmlformats.org/officeDocument/2006/relationships/slideLayout" Target="/ppt/slideLayouts/slideLayout4.xml" Id="Rd2aba552490443e2" /><Relationship Type="http://schemas.openxmlformats.org/officeDocument/2006/relationships/slideLayout" Target="/ppt/slideLayouts/slideLayout5.xml" Id="R20e57a72796244f8" /><Relationship Type="http://schemas.openxmlformats.org/officeDocument/2006/relationships/slideLayout" Target="/ppt/slideLayouts/slideLayout6.xml" Id="R345481e07b774c74" /><Relationship Type="http://schemas.openxmlformats.org/officeDocument/2006/relationships/slideLayout" Target="/ppt/slideLayouts/slideLayout7.xml" Id="R52893e170d5b4064" /><Relationship Type="http://schemas.openxmlformats.org/officeDocument/2006/relationships/slideLayout" Target="/ppt/slideLayouts/slideLayout8.xml" Id="R22f08a3295b94ec9" /><Relationship Type="http://schemas.openxmlformats.org/officeDocument/2006/relationships/slideLayout" Target="/ppt/slideLayouts/slideLayout9.xml" Id="Ra7f19e3871c54c08" /><Relationship Type="http://schemas.openxmlformats.org/officeDocument/2006/relationships/slideLayout" Target="/ppt/slideLayouts/slideLayout10.xml" Id="R91d3d0dc3a7941a3" /><Relationship Type="http://schemas.openxmlformats.org/officeDocument/2006/relationships/slideLayout" Target="/ppt/slideLayouts/slideLayout11.xml" Id="R455409bf077f4f8f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D9A51C2-FA31-468F-A532-CB7DB9B694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D600BD9F-CB3B-4DF1-A8E7-0F5388C492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5BEBC020-50DF-4800-A7E8-6B51021B9F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cea48702724cd2"/>
    <p:sldLayoutId xmlns:r="http://schemas.openxmlformats.org/officeDocument/2006/relationships" id="2147483650" r:id="R135ccd1ce0f74832"/>
    <p:sldLayoutId xmlns:r="http://schemas.openxmlformats.org/officeDocument/2006/relationships" id="2147483651" r:id="Reae8ad90c3864ec0"/>
    <p:sldLayoutId xmlns:r="http://schemas.openxmlformats.org/officeDocument/2006/relationships" id="2147483652" r:id="Rd2aba552490443e2"/>
    <p:sldLayoutId xmlns:r="http://schemas.openxmlformats.org/officeDocument/2006/relationships" id="2147483653" r:id="R20e57a72796244f8"/>
    <p:sldLayoutId xmlns:r="http://schemas.openxmlformats.org/officeDocument/2006/relationships" id="2147483654" r:id="R345481e07b774c74"/>
    <p:sldLayoutId xmlns:r="http://schemas.openxmlformats.org/officeDocument/2006/relationships" id="2147483655" r:id="R52893e170d5b4064"/>
    <p:sldLayoutId xmlns:r="http://schemas.openxmlformats.org/officeDocument/2006/relationships" id="2147483656" r:id="R22f08a3295b94ec9"/>
    <p:sldLayoutId xmlns:r="http://schemas.openxmlformats.org/officeDocument/2006/relationships" id="2147483657" r:id="Ra7f19e3871c54c08"/>
    <p:sldLayoutId xmlns:r="http://schemas.openxmlformats.org/officeDocument/2006/relationships" id="2147483658" r:id="R91d3d0dc3a7941a3"/>
    <p:sldLayoutId xmlns:r="http://schemas.openxmlformats.org/officeDocument/2006/relationships" id="2147483659" r:id="R455409bf077f4f8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4e482612f814597" /><Relationship Type="http://schemas.openxmlformats.org/officeDocument/2006/relationships/image" Target="/ppt/media/image.png" Id="Rf931aa0477ce4341" /><Relationship Type="http://schemas.openxmlformats.org/officeDocument/2006/relationships/notesSlide" Target="/ppt/notesSlides/notesSlide1.xml" Id="Rd1f5cab9e51d4f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edfabdcde7c4b30" /><Relationship Type="http://schemas.openxmlformats.org/officeDocument/2006/relationships/image" Target="/ppt/media/image.png" Id="R38aa79077d394e62" /><Relationship Type="http://schemas.openxmlformats.org/officeDocument/2006/relationships/notesSlide" Target="/ppt/notesSlides/notesSlide2.xml" Id="R2e08702e01aa49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4257b478e704b10" /><Relationship Type="http://schemas.openxmlformats.org/officeDocument/2006/relationships/image" Target="/ppt/media/image.png" Id="Rb5073392f09d440b" /><Relationship Type="http://schemas.openxmlformats.org/officeDocument/2006/relationships/notesSlide" Target="/ppt/notesSlides/notesSlide3.xml" Id="R81964425c5ad40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6e5a738b9d34a02" /><Relationship Type="http://schemas.openxmlformats.org/officeDocument/2006/relationships/image" Target="/ppt/media/image.png" Id="R34645cad9e6c43a3" /><Relationship Type="http://schemas.openxmlformats.org/officeDocument/2006/relationships/notesSlide" Target="/ppt/notesSlides/notesSlide4.xml" Id="R17e9d183055a4c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ca30fe777414d43" /><Relationship Type="http://schemas.openxmlformats.org/officeDocument/2006/relationships/image" Target="/ppt/media/image.png" Id="Rc52b0cddc1e6402b" /><Relationship Type="http://schemas.openxmlformats.org/officeDocument/2006/relationships/image" Target="/ppt/media/image.jpeg" Id="R810ec8ed26e0443a" /><Relationship Type="http://schemas.openxmlformats.org/officeDocument/2006/relationships/notesSlide" Target="/ppt/notesSlides/notesSlide5.xml" Id="R171645d166754a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2296c5e92194504" /><Relationship Type="http://schemas.openxmlformats.org/officeDocument/2006/relationships/image" Target="/ppt/media/image.png" Id="Rac0750972d5b475f" /><Relationship Type="http://schemas.openxmlformats.org/officeDocument/2006/relationships/notesSlide" Target="/ppt/notesSlides/notesSlide6.xml" Id="Recf6641a6ce24a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bd170fd5ffd4b0a" /><Relationship Type="http://schemas.openxmlformats.org/officeDocument/2006/relationships/image" Target="/ppt/media/image.png" Id="R0a35ae67c4304c74" /><Relationship Type="http://schemas.openxmlformats.org/officeDocument/2006/relationships/notesSlide" Target="/ppt/notesSlides/notesSlide7.xml" Id="Rfddfbfd45e4246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4fecf647ae84203" /><Relationship Type="http://schemas.openxmlformats.org/officeDocument/2006/relationships/image" Target="/ppt/media/image.png" Id="R73663397c67541a6" /><Relationship Type="http://schemas.openxmlformats.org/officeDocument/2006/relationships/notesSlide" Target="/ppt/notesSlides/notesSlide8.xml" Id="Rbbca0b588b0e4f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30d96e9e0e14646" /><Relationship Type="http://schemas.openxmlformats.org/officeDocument/2006/relationships/image" Target="/ppt/media/image.png" Id="Rc98cae27dcee41cc" /><Relationship Type="http://schemas.openxmlformats.org/officeDocument/2006/relationships/notesSlide" Target="/ppt/notesSlides/notesSlide9.xml" Id="Re914a2a3249f4e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7547936257f404e" /><Relationship Type="http://schemas.openxmlformats.org/officeDocument/2006/relationships/image" Target="/ppt/media/image.png" Id="Rf94a249e02954bc2" /><Relationship Type="http://schemas.openxmlformats.org/officeDocument/2006/relationships/notesSlide" Target="/ppt/notesSlides/notesSlide10.xml" Id="Rd91fa004d57a46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b900b9150994b39" /><Relationship Type="http://schemas.openxmlformats.org/officeDocument/2006/relationships/image" Target="/ppt/media/image2.png" Id="R39501e882d6346d3" /><Relationship Type="http://schemas.openxmlformats.org/officeDocument/2006/relationships/notesSlide" Target="/ppt/notesSlides/notesSlide11.xml" Id="R13c9dc10e9c547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9" name="Google Shape;6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31aa0477ce43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2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8793A864-6004-432F-ACFB-CCC4EBA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0" y="700000"/>
            <a:ext cx="5153700" cy="50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4619"/>
          </a:bodyPr>
          <a:lstStyle xmlns:a="http://schemas.openxmlformats.org/drawingml/2006/main"/>
          <a:p xmlns:a="http://schemas.openxmlformats.org/drawingml/2006/main">
            <a:pPr>
              <a:defRPr sz="2250" b="1"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Aaranya Care Intelligence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90040D-4761-403E-9703-84D7DC1A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Whole-person care intelligence with human authority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7ACACEC-D9EF-4998-8CD3-389491F1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24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A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A36"/>
                </a:solidFill>
                <a:latin typeface="Arial"/>
                <a:ea typeface="Arial"/>
                <a:cs typeface="Arial"/>
              </a:rPr>
              <a:t>WORKING PROTOTYPE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9662DC-947A-4E20-B1DE-AFD3F78D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14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3798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1080B4D-A76B-4CA9-9FBB-DE805582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5147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2314664-C31D-49FC-99F4-FA09832A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146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3798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10.0/10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45290A3-E84F-4713-838C-3AF3B9A3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14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350 quality checks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F6140AF-C636-477F-9519-F9B46E39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146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3798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2FA0C0B-7ED2-4C35-83A9-57147B2F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14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final authority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C501113-00B1-45ED-9262-810C5856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624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863"/>
                </a:solidFill>
                <a:latin typeface="Arial"/>
                <a:ea typeface="Arial"/>
                <a:cs typeface="Arial"/>
              </a:rPr>
              <a:t>Innovation AI Agents    Builders Pitch Fest 2026</a:t>
            </a:r>
          </a:p>
        </p:txBody>
      </p:sp>
    </p:spTree>
    <p:extLst>
      <p:ext uri="{BB962C8B-B14F-4D97-AF65-F5344CB8AC3E}">
        <p14:creationId xmlns:p14="http://schemas.microsoft.com/office/powerpoint/2010/main" val="16046544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9" name="Google Shape;73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aa79077d394e6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2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5" name="Google Shape;75;p16">
            <a:extLst xmlns:a="http://schemas.openxmlformats.org/drawingml/2006/main">
              <a:ext uri="{FF2B5EF4-FFF2-40B4-BE49-F238E27FC236}">
                <a16:creationId xmlns:a16="http://schemas.microsoft.com/office/drawing/2014/main" id="{B325E5E2-1829-4335-93E6-E0EDB2E5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0" y="700000"/>
            <a:ext cx="5153700" cy="50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69455"/>
          </a:bodyPr>
          <a:lstStyle xmlns:a="http://schemas.openxmlformats.org/drawingml/2006/main"/>
          <a:p xmlns:a="http://schemas.openxmlformats.org/drawingml/2006/main">
            <a:pPr>
              <a:defRPr sz="2250" b="1"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One observation creates four coordination problems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55D4C3A-D475-42B1-B963-B65E3A3D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382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CAREGIVER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1B2F149-7FDD-4416-8BEF-FFFC6592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192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Repeats the same observation across notes, calls and handover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88CD307-2475-4CFC-B34D-5AC455AE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5262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DD8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EF95DAC-ABBA-4A5F-8005-EAAC1F65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1907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NURSE IN CHARGE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2B50888-D97E-4489-89FF-FA341611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717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Balances urgency against medication rounds and resident requests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85094B4-164B-43F2-995B-397F7A10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051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DD8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1890D9-2471-44ED-BA49-3C101751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432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5A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A36"/>
                </a:solidFill>
                <a:latin typeface="Arial"/>
                <a:ea typeface="Arial"/>
                <a:cs typeface="Arial"/>
              </a:rPr>
              <a:t>FACILITY OPERATOR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8D67DAD-1F74-408E-9CEF-99330186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241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Cannot see whether every concern received an owner and response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7E1E2DD-771A-49E1-B0DD-D0ABE622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57575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DD8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B95BE1D-D963-47AC-8E7C-5205E2DC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957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FAMILY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4B1AFFB-C2B0-47FE-B6F4-E893BDFE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Calls repeatedly when a factual update does not arrive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010FA30-49E5-4F0A-8B69-6CC98121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3387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Customer hypotheses to validate during design-partner discovery</a:t>
            </a:r>
          </a:p>
        </p:txBody>
      </p:sp>
    </p:spTree>
    <p:extLst>
      <p:ext uri="{BB962C8B-B14F-4D97-AF65-F5344CB8AC3E}">
        <p14:creationId xmlns:p14="http://schemas.microsoft.com/office/powerpoint/2010/main" val="4701476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5" name="Google Shape;80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073392f09d44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2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2DAB882F-8503-4DF1-9A94-EFD001FE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0" y="700000"/>
            <a:ext cx="5153700" cy="50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0665"/>
          </a:bodyPr>
          <a:lstStyle xmlns:a="http://schemas.openxmlformats.org/drawingml/2006/main"/>
          <a:p xmlns:a="http://schemas.openxmlformats.org/drawingml/2006/main">
            <a:pPr>
              <a:defRPr sz="2250" b="1"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Beachhead customer and buying trigger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E66E8D3-564A-4AC2-87F2-2A885B24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287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4545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153M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8B865B-1DAB-4425-B568-D5D191BE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52650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people aged 60 or older in India in 2022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A9F9B53-6BA7-4617-BBD2-6034219C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89560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4545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5A36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5A36"/>
                </a:solidFill>
                <a:latin typeface="Arial"/>
                <a:ea typeface="Arial"/>
                <a:cs typeface="Arial"/>
              </a:rPr>
              <a:t>347M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58E9DF6-4E32-4229-B436-7E5F51EB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UNFPA projection for 2050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65CCCF-7F52-45FB-92C5-9CF75392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28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DD8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7E48D0B-E2C3-44A9-BEA9-2E614AD0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28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A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A36"/>
                </a:solidFill>
                <a:latin typeface="Arial"/>
                <a:ea typeface="Arial"/>
                <a:cs typeface="Arial"/>
              </a:rPr>
              <a:t>INITIAL CUSTOMER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FFD33F7-BC41-4576-89A5-BF7CE2C7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04975"/>
            <a:ext cx="4667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9654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India-based assisted-living and senior-care operators with multiple shifts or sites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BA49A9B-7F15-49AE-9783-4E714F8C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ECONOMIC BUYER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50E8C08-BC76-4267-BCAC-5E68B70F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24175"/>
            <a:ext cx="428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Facility owner, COO or head of care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E957D37-B7EC-4A0C-9163-CA5EDC22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62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BUYING TRIGGER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B974843-946E-42F0-AF7A-C369D2CF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38575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041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Inconsistent escalation, weak handovers or repeated family follow-up</a:t>
            </a:r>
          </a:p>
        </p:txBody>
      </p:sp>
    </p:spTree>
    <p:extLst>
      <p:ext uri="{BB962C8B-B14F-4D97-AF65-F5344CB8AC3E}">
        <p14:creationId xmlns:p14="http://schemas.microsoft.com/office/powerpoint/2010/main" val="6795568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5" name="Google Shape;8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645cad9e6c43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2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9" name="Google Shape;89;p18">
            <a:extLst xmlns:a="http://schemas.openxmlformats.org/drawingml/2006/main">
              <a:ext uri="{FF2B5EF4-FFF2-40B4-BE49-F238E27FC236}">
                <a16:creationId xmlns:a16="http://schemas.microsoft.com/office/drawing/2014/main" id="{5A679682-E74D-44F2-8393-F29E8618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0" y="700000"/>
            <a:ext cx="5153700" cy="50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4619"/>
          </a:bodyPr>
          <a:lstStyle xmlns:a="http://schemas.openxmlformats.org/drawingml/2006/main"/>
          <a:p xmlns:a="http://schemas.openxmlformats.org/drawingml/2006/main">
            <a:pPr>
              <a:defRPr sz="2250" b="1"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care-signal workflow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5275C6-4DB8-4739-9F93-06D6D446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FC8C2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484618C-3025-4BDE-8943-461F0FEF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28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6"/>
          </a:solidFill>
          <a:ln xmlns:a="http://schemas.openxmlformats.org/drawingml/2006/main" w="0">
            <a:solidFill>
              <a:srgbClr val="173F36"/>
            </a:solidFill>
          </a:ln>
        </p:spPr>
        <p:txBody>
          <a:bodyPr xmlns:a="http://schemas.openxmlformats.org/drawingml/2006/main">
            <a:normAutofit fontScale="773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DCC3946-58AC-4014-8C14-C929D460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66950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7EB500A-93B0-474D-A08E-9376CBFC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57475"/>
            <a:ext cx="121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Caregiver records one change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2C1ED53-79BC-4E89-8DD2-EDA12853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09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FC8C2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082BF39-8492-423C-B0B4-7BB096A8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28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6"/>
          </a:solidFill>
          <a:ln xmlns:a="http://schemas.openxmlformats.org/drawingml/2006/main" w="0">
            <a:solidFill>
              <a:srgbClr val="173F36"/>
            </a:solidFill>
          </a:ln>
        </p:spPr>
        <p:txBody>
          <a:bodyPr xmlns:a="http://schemas.openxmlformats.org/drawingml/2006/main">
            <a:normAutofit fontScale="773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3A1072B-B1BB-478D-826C-8B0F36AA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66950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F2A3AE7-88BC-4F14-92D8-8A55F3AF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57475"/>
            <a:ext cx="121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Baseline plus seven wellness signals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E8611EF-DA38-4BD7-9C54-5EC6768C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1A83B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DBB76D8-A2AA-4587-91A6-21699107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28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6"/>
          </a:solidFill>
          <a:ln xmlns:a="http://schemas.openxmlformats.org/drawingml/2006/main" w="0">
            <a:solidFill>
              <a:srgbClr val="173F36"/>
            </a:solidFill>
          </a:ln>
        </p:spPr>
        <p:txBody>
          <a:bodyPr xmlns:a="http://schemas.openxmlformats.org/drawingml/2006/main">
            <a:normAutofit fontScale="773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051D969-03FB-43EB-B98B-8C9DB394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66950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86D07D4-961C-480F-86DF-6422B925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57475"/>
            <a:ext cx="121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Safety policy runs before planning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4CD2864-513A-46E5-8F10-89000FA0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FC8C2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EFF7982-B842-42F3-A54D-9C0DE6AD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28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solidFill>
              <a:srgbClr val="FF5A36"/>
            </a:solidFill>
          </a:ln>
        </p:spPr>
        <p:txBody>
          <a:bodyPr xmlns:a="http://schemas.openxmlformats.org/drawingml/2006/main">
            <a:normAutofit fontScale="773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28BBAE3-1A89-44D3-B00C-0F413B76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EFBCAC5-63A6-4F60-9241-0343B2A2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57475"/>
            <a:ext cx="121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Owner and practical next step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E06D446-2494-4BC6-9223-E5C074FC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FC8C2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312EAD6-87B9-48B5-B470-71AB422D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28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6"/>
          </a:solidFill>
          <a:ln xmlns:a="http://schemas.openxmlformats.org/drawingml/2006/main" w="0">
            <a:solidFill>
              <a:srgbClr val="173F36"/>
            </a:solidFill>
          </a:ln>
        </p:spPr>
        <p:txBody>
          <a:bodyPr xmlns:a="http://schemas.openxmlformats.org/drawingml/2006/main">
            <a:normAutofit fontScale="773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1A5B6DF-E726-440E-815F-3D3FB2A6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645B5C9-FCD3-4FE8-B6AA-6330C83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57475"/>
            <a:ext cx="121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Staff accepts, edits or rejects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81D6A0B-7DC9-4158-AC05-4B57CED9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28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F36"/>
          </a:solidFill>
          <a:ln xmlns:a="http://schemas.openxmlformats.org/drawingml/2006/main" w="0">
            <a:solidFill>
              <a:srgbClr val="173F36"/>
            </a:solidFill>
          </a:ln>
        </p:spPr>
        <p:txBody>
          <a:bodyPr xmlns:a="http://schemas.openxmlformats.org/drawingml/2006/main">
            <a:normAutofit fontScale="773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BF705E7-6920-4ACD-AB51-22498825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123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Follow up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55C6539-0FE8-471B-979D-FCFAC6A7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57475"/>
            <a:ext cx="121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Task and family draft stay held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FBAB1C8-5F7F-48FA-A37B-4E21AD95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909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The product coordinates work. Staff retains authority.</a:t>
            </a:r>
          </a:p>
        </p:txBody>
      </p:sp>
    </p:spTree>
    <p:extLst>
      <p:ext uri="{BB962C8B-B14F-4D97-AF65-F5344CB8AC3E}">
        <p14:creationId xmlns:p14="http://schemas.microsoft.com/office/powerpoint/2010/main" val="7071306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" name="Google Shape;94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2b0cddc1e640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2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6" name="Google Shape;96;p19">
            <a:extLst xmlns:a="http://schemas.openxmlformats.org/drawingml/2006/main">
              <a:ext uri="{FF2B5EF4-FFF2-40B4-BE49-F238E27FC236}">
                <a16:creationId xmlns:a16="http://schemas.microsoft.com/office/drawing/2014/main" id="{DB145413-6788-4B6C-94A7-08D31FF9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0" y="700000"/>
            <a:ext cx="5153700" cy="50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2048"/>
          </a:bodyPr>
          <a:lstStyle xmlns:a="http://schemas.openxmlformats.org/drawingml/2006/main"/>
          <a:p xmlns:a="http://schemas.openxmlformats.org/drawingml/2006/main">
            <a:pPr>
              <a:defRPr sz="2250" b="1"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Working prototype and WholeLife Pulse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00B34D6-96E3-4845-8D95-395A35E3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573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A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A36"/>
                </a:solidFill>
                <a:latin typeface="Arial"/>
                <a:ea typeface="Arial"/>
                <a:cs typeface="Arial"/>
              </a:rPr>
              <a:t>SEVEN DIMENSIONS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A661146-F1AB-491C-A0C8-90A47678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5260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Sleep, energy, stress, movement, nourishment, connection and purpose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612BE8E-0879-4DC3-B881-C1765DD4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955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A3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5A36"/>
                </a:solidFill>
                <a:latin typeface="Arial"/>
                <a:ea typeface="Arial"/>
                <a:cs typeface="Arial"/>
              </a:rPr>
              <a:t>SUPERVISED AGENTS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663DFE6-1A1C-4EB4-BDD5-C9D337CE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90850"/>
            <a:ext cx="2809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244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Evidence, critic and safety stages end at a human approval gate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D03D82E-F039-4889-836B-13909F0A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9624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37 tests    350/350 checks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ec8ed26e0443a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625" y="1409700"/>
            <a:ext cx="5334000" cy="300037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</p:spTree>
    <p:extLst>
      <p:ext uri="{BB962C8B-B14F-4D97-AF65-F5344CB8AC3E}">
        <p14:creationId xmlns:p14="http://schemas.microsoft.com/office/powerpoint/2010/main" val="17861047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2" name="Google Shape;101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0750972d5b47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2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20">
            <a:extLst xmlns:a="http://schemas.openxmlformats.org/drawingml/2006/main">
              <a:ext uri="{FF2B5EF4-FFF2-40B4-BE49-F238E27FC236}">
                <a16:creationId xmlns:a16="http://schemas.microsoft.com/office/drawing/2014/main" id="{B29229A8-630A-472B-9C75-16344490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0" y="700000"/>
            <a:ext cx="5153700" cy="50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4619"/>
          </a:bodyPr>
          <a:lstStyle xmlns:a="http://schemas.openxmlformats.org/drawingml/2006/main"/>
          <a:p xmlns:a="http://schemas.openxmlformats.org/drawingml/2006/main">
            <a:pPr>
              <a:defRPr sz="2250" b="1"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Ninety-day pilot scorecard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1E8D078-AA4F-4004-9549-1AD7CBD6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43050"/>
            <a:ext cx="195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5A3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5A36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1A2B41A-A10F-41FB-885F-10CC03A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76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863"/>
                </a:solidFill>
                <a:latin typeface="Arial"/>
                <a:ea typeface="Arial"/>
                <a:cs typeface="Arial"/>
              </a:rPr>
              <a:t>FASTER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4C7733A-E549-457C-B813-7FE01BF0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762250"/>
            <a:ext cx="1857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875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Observation to owner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36F6A84-5C57-4F73-A0ED-98AC954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00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880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versus week-one baseline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B8DD281-05F6-41F9-B408-1B7C7595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43050"/>
            <a:ext cx="195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≥95%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F755A27-5AE2-4A1D-B558-45BAC43A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76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863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32950B-B591-4F86-991C-FCE92E6F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1857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875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Required care-note fields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272C0B9-F5F6-43EE-B3AA-B25255CF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0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for escalated events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666E982-B505-4628-90F5-4AB731C8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43050"/>
            <a:ext cx="195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&lt;30m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6C9A54B-2984-49A2-A8C9-05FF83BB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76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863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7DAB404-C835-4984-B030-E5943444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62250"/>
            <a:ext cx="1857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875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Approved family update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CC1CE96-E3B7-49B9-A65A-4D3FAA54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00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after a care event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DFB3011-15C3-4420-A397-EB3B5422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43050"/>
            <a:ext cx="1952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≥80%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824F0FC-66A7-4AFA-A464-5D9AC65E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76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863"/>
                </a:solidFill>
                <a:latin typeface="Arial"/>
                <a:ea typeface="Arial"/>
                <a:cs typeface="Arial"/>
              </a:rPr>
              <a:t>WEEKLY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001C893-A1A6-45CE-8654-ED0262B5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1857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875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Invited staff adoption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53F5544-58FA-4364-8CFC-5FE7F29B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0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during the pilot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C11FDE-55F3-4FAC-A2A7-F58334D4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24325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Week one establishes the baseline. Weeks two to twelve measure improvement and adoption.</a:t>
            </a:r>
          </a:p>
        </p:txBody>
      </p:sp>
    </p:spTree>
    <p:extLst>
      <p:ext uri="{BB962C8B-B14F-4D97-AF65-F5344CB8AC3E}">
        <p14:creationId xmlns:p14="http://schemas.microsoft.com/office/powerpoint/2010/main" val="4281146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0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35ae67c4304c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2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1">
            <a:extLst xmlns:a="http://schemas.openxmlformats.org/drawingml/2006/main">
              <a:ext uri="{FF2B5EF4-FFF2-40B4-BE49-F238E27FC236}">
                <a16:creationId xmlns:a16="http://schemas.microsoft.com/office/drawing/2014/main" id="{C9D14AFA-8C1F-4727-8ED8-BB5CB3E5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0" y="700000"/>
            <a:ext cx="5153700" cy="50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4619"/>
          </a:bodyPr>
          <a:lstStyle xmlns:a="http://schemas.openxmlformats.org/drawingml/2006/main"/>
          <a:p xmlns:a="http://schemas.openxmlformats.org/drawingml/2006/main">
            <a:pPr>
              <a:defRPr sz="2250" b="1"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Pilot-led business model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F3D6C69-53DE-427E-8CC9-D61AA02A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57325"/>
            <a:ext cx="66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5A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5A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E347429-AACA-4FAE-8E1B-FA061E78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5732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863"/>
                </a:solidFill>
                <a:latin typeface="Arial"/>
                <a:ea typeface="Arial"/>
                <a:cs typeface="Arial"/>
              </a:rPr>
              <a:t>DESIGN PARTNER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4CFE6CE-1A1A-4C69-ACEE-DB9A1435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14500"/>
            <a:ext cx="681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9217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Two facilities test one escalation workflow and review outcomes each week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FA15483-E7E9-4AEC-BD37-0EA68C93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38375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DD8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B582313-7E60-4F02-A403-3764CB28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81250"/>
            <a:ext cx="66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D44921E-44A3-430F-9CB0-A71B7A0D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863"/>
                </a:solidFill>
                <a:latin typeface="Arial"/>
                <a:ea typeface="Arial"/>
                <a:cs typeface="Arial"/>
              </a:rPr>
              <a:t>PRICING HYPOTHESIS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D2C5AF9-7141-43E8-B9C7-55005C22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38425"/>
            <a:ext cx="681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Facility platform fee plus a charge per occupied bed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A37E86D-7214-4501-92AE-9A4B9395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DD8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56D716C-657F-465A-97F0-8E842B8B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305175"/>
            <a:ext cx="66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5D3D1DC-46E2-4980-AA83-0DCAFDB5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0517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863"/>
                </a:solidFill>
                <a:latin typeface="Arial"/>
                <a:ea typeface="Arial"/>
                <a:cs typeface="Arial"/>
              </a:rPr>
              <a:t>EXPANSION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5C2F6BD-34C4-4BEB-86F7-50F4D76B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681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Policy packs, family communication and multi-site oversight after adoption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C5ADAFF-3AB8-48E1-B700-6EBA61A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48150"/>
            <a:ext cx="7953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Market sizing starts with beds managed by the target operator segment, not India’s entire older population.</a:t>
            </a:r>
          </a:p>
        </p:txBody>
      </p:sp>
    </p:spTree>
    <p:extLst>
      <p:ext uri="{BB962C8B-B14F-4D97-AF65-F5344CB8AC3E}">
        <p14:creationId xmlns:p14="http://schemas.microsoft.com/office/powerpoint/2010/main" val="1867906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15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663397c67541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2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7" name="Google Shape;117;p22">
            <a:extLst xmlns:a="http://schemas.openxmlformats.org/drawingml/2006/main">
              <a:ext uri="{FF2B5EF4-FFF2-40B4-BE49-F238E27FC236}">
                <a16:creationId xmlns:a16="http://schemas.microsoft.com/office/drawing/2014/main" id="{5FB7E943-4EB6-4150-9366-F4FC2E85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0" y="700000"/>
            <a:ext cx="5153700" cy="50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69548"/>
          </a:bodyPr>
          <a:lstStyle xmlns:a="http://schemas.openxmlformats.org/drawingml/2006/main"/>
          <a:p xmlns:a="http://schemas.openxmlformats.org/drawingml/2006/main">
            <a:pPr>
              <a:defRPr sz="2250" b="1"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Defensibility grows through approved workflow data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F1943B0-1BBC-4AB5-8304-D94F3269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47800"/>
            <a:ext cx="7858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CE9E1"/>
          </a:solidFill>
          <a:ln xmlns:a="http://schemas.openxmlformats.org/drawingml/2006/main" w="0">
            <a:solidFill>
              <a:srgbClr val="DCE9E1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0BD3C59-C8FB-49D4-9567-C91C1EB2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WholeLife context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3BEC2F3-0195-4EF0-89CE-10BA9F9F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7162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Seven wellness dimensions plus resident baselines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43C1720-2F3D-48B0-A64D-B8F1A393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7191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8E2CF"/>
          </a:solidFill>
          <a:ln xmlns:a="http://schemas.openxmlformats.org/drawingml/2006/main" w="0">
            <a:solidFill>
              <a:srgbClr val="E8E2C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8982BBE-33A8-42DA-9011-9E241855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574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017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Evidence and policy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37D9346-BAB2-4A7C-8863-F7C0E34C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574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Stable sources linked to each decision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EEA7428-CB50-4A68-B23A-89ED70C4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65246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DDCF"/>
          </a:solidFill>
          <a:ln xmlns:a="http://schemas.openxmlformats.org/drawingml/2006/main" w="0">
            <a:solidFill>
              <a:srgbClr val="F4DDCF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FB67D08-67E5-4B75-B2AD-20434F89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432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Action control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0B62DB6-A67C-4627-984E-B14872E9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4322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Typed tools and explicit human approval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833E2B7-C1D5-4C2F-807C-39A0B4B6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05200"/>
            <a:ext cx="5857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73F36"/>
          </a:solidFill>
          <a:ln xmlns:a="http://schemas.openxmlformats.org/drawingml/2006/main" w="0">
            <a:solidFill>
              <a:srgbClr val="173F36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B3C9500-C4D6-4E73-9992-81A4C832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29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 learning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1889A19-E125-491A-A3FB-953FFD85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290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077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from approved actions and follow-through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95006B4-DA47-420E-BB26-6E593C55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6720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Aaranya connects whole-person context, policy, ownership, approval and family communication in one trace.</a:t>
            </a:r>
          </a:p>
        </p:txBody>
      </p:sp>
    </p:spTree>
    <p:extLst>
      <p:ext uri="{BB962C8B-B14F-4D97-AF65-F5344CB8AC3E}">
        <p14:creationId xmlns:p14="http://schemas.microsoft.com/office/powerpoint/2010/main" val="11965495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5" name="Google Shape;122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8cae27dcee41c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2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4" name="Google Shape;124;p23">
            <a:extLst xmlns:a="http://schemas.openxmlformats.org/drawingml/2006/main">
              <a:ext uri="{FF2B5EF4-FFF2-40B4-BE49-F238E27FC236}">
                <a16:creationId xmlns:a16="http://schemas.microsoft.com/office/drawing/2014/main" id="{801C477D-FA93-4C39-BD17-A07BD17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0" y="700000"/>
            <a:ext cx="5153700" cy="50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4619"/>
          </a:bodyPr>
          <a:lstStyle xmlns:a="http://schemas.openxmlformats.org/drawingml/2006/main"/>
          <a:p xmlns:a="http://schemas.openxmlformats.org/drawingml/2006/main">
            <a:pPr>
              <a:defRPr sz="2250" b="1"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Founder fit and the BITSoM ask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198E91E-F594-4CC0-A8C3-2BBCF17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85900"/>
            <a:ext cx="1238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2690"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C7E1F05-FFB7-43C4-BED7-8342EEFE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09800"/>
            <a:ext cx="219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years in software and IT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C822CED-C9F2-4B91-8AC7-85FDD4D0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914650"/>
            <a:ext cx="1238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2690"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5A36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5A3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FE8E094-125D-4FCB-B3E1-796F2CDB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638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728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years in product management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46C06C4-957D-4317-A354-5A7234AE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85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GOWTHAM RAMACHANDRA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F63107D-CE07-48A5-B752-EE52ACA9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57375"/>
            <a:ext cx="5191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875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Product leadership across Texmed, Trilogy, JPMorgan Chase, IBM and Harman. PGPEM from IIM Bangalore.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FF29E15-6E46-485E-814C-1E6F8E55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DD8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0EC920C-E499-4008-BE31-BBB9F9AE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765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5A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A36"/>
                </a:solidFill>
                <a:latin typeface="Arial"/>
                <a:ea typeface="Arial"/>
                <a:cs typeface="Arial"/>
              </a:rPr>
              <a:t>WHAT BITSoM CAN UNLOCK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8219DB9-E024-4EA0-ABBB-A63ACBC3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519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189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Operator introductions for discovery and two design partnerships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Guidance on enterprise pricing, evidence design and compliance readiness</a:t>
            </a:r>
          </a:p>
        </p:txBody>
      </p:sp>
    </p:spTree>
    <p:extLst>
      <p:ext uri="{BB962C8B-B14F-4D97-AF65-F5344CB8AC3E}">
        <p14:creationId xmlns:p14="http://schemas.microsoft.com/office/powerpoint/2010/main" val="1656871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3" name="Google Shape;129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4a249e02954b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2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1" name="Google Shape;131;p24">
            <a:extLst xmlns:a="http://schemas.openxmlformats.org/drawingml/2006/main">
              <a:ext uri="{FF2B5EF4-FFF2-40B4-BE49-F238E27FC236}">
                <a16:creationId xmlns:a16="http://schemas.microsoft.com/office/drawing/2014/main" id="{9D9D158C-3D05-4289-8036-7951AD00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0" y="700000"/>
            <a:ext cx="5153700" cy="50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4619"/>
          </a:bodyPr>
          <a:lstStyle xmlns:a="http://schemas.openxmlformats.org/drawingml/2006/main"/>
          <a:p xmlns:a="http://schemas.openxmlformats.org/drawingml/2006/main">
            <a:pPr>
              <a:defRPr sz="2250" b="1"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Pilot invitation and live demo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7D07D91-3FEE-43DF-BE87-CD0FFFE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4382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5A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5A36"/>
                </a:solidFill>
                <a:latin typeface="Arial"/>
                <a:ea typeface="Arial"/>
                <a:cs typeface="Arial"/>
              </a:rPr>
              <a:t>WE NEED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77EB348-7455-4D33-AB94-F3780561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19275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5542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One care lead</a:t>
            </a:r>
          </a:p>
          <a:p xmlns:a="http://schemas.openxmlformats.org/drawingml/2006/main">
            <a:pPr>
              <a:defRPr sz="18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Two frontline users</a:t>
            </a:r>
          </a:p>
          <a:p xmlns:a="http://schemas.openxmlformats.org/drawingml/2006/main">
            <a:pPr>
              <a:defRPr sz="18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One escalation workflow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DBDE39F-746F-4E1F-8B3F-AC905FF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82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YOU RECEIVE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D40919-2227-4EC5-92D8-09DA824F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19275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 configured prototype</a:t>
            </a:r>
          </a:p>
          <a:p xmlns:a="http://schemas.openxmlformats.org/drawingml/2006/main">
            <a:pPr>
              <a:defRPr sz="18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Weekly findings</a:t>
            </a:r>
          </a:p>
          <a:p xmlns:a="http://schemas.openxmlformats.org/drawingml/2006/main">
            <a:pPr>
              <a:defRPr sz="18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A final outcome report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6DA810E-1C30-4BFF-BB13-EE50DB03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171825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DDD8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9CB8902-468B-4DE4-B407-9E839E6F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3432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863"/>
                </a:solidFill>
                <a:latin typeface="Arial"/>
                <a:ea typeface="Arial"/>
                <a:cs typeface="Arial"/>
              </a:rPr>
              <a:t>LIVE PROTOTYPE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7491647-5F33-4151-9CC2-0A7A3FE0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00450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aaranya-care-intelligence.trilogy-1207.chatgpt.site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4CD2948-3659-4843-A1A4-127EBA03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00500"/>
            <a:ext cx="952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6863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A0DF82B-97B3-4A6D-93F7-131078FB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909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F36"/>
                </a:solidFill>
                <a:latin typeface="Arial"/>
                <a:ea typeface="Arial"/>
                <a:cs typeface="Arial"/>
              </a:rPr>
              <a:t>github.com/gowtham66867/aaranya-care-intelligence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BEA3243-1DF4-4B7F-B077-925E9ED4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52925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8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63"/>
                </a:solidFill>
                <a:latin typeface="Arial"/>
                <a:ea typeface="Arial"/>
                <a:cs typeface="Arial"/>
              </a:rPr>
              <a:t>Gowtham Ramachandra    gowtham66866@gmail.com</a:t>
            </a:r>
          </a:p>
        </p:txBody>
      </p:sp>
    </p:spTree>
    <p:extLst>
      <p:ext uri="{BB962C8B-B14F-4D97-AF65-F5344CB8AC3E}">
        <p14:creationId xmlns:p14="http://schemas.microsoft.com/office/powerpoint/2010/main" val="16660040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Google Shape;136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501e882d6346d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3992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00170090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2026-09-06T17:29:15.2410000Z</dcterms:created>
  <dcterms:modified xsi:type="dcterms:W3CDTF">2026-09-06T17:29:15.2410000Z</dcterms:modified>
</coreProperties>
</file>